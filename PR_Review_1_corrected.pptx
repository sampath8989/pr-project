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1" r:id="rId4"/>
    <p:sldId id="264" r:id="rId5"/>
    <p:sldId id="265" r:id="rId16"/>
    <p:sldId id="260" r:id="rId6"/>
    <p:sldId id="259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B1B1F-FCC8-4D78-E754-0BFB8222134C}" v="671" dt="2026-08-30T13:25:32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6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7912-2BAF-AD9F-B5FD-83F43479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69B648-8081-D30A-364B-1A9874B79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F59F8-FF09-3E6C-9B69-D597BFC257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DBA529F-6B29-9DE7-A805-20FE9B1D6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7CFBF8-E489-CD9F-EE1D-565AC1D10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C03AF-F936-CEE6-AE0E-A501D96D6A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20FD-D542-A3B0-54BA-3E741B21F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993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67F3-8531-35EF-3C3F-7A533AA2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CB93BE-5ABE-00EA-9724-694C7914D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16AF4-DC8E-6667-FBFD-0BAF9CA0FF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EA177C-F352-857F-336C-6640D1A25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72465A-4D82-2F3D-7B01-89AA70BC2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92005-87BC-0D99-D1C1-F0A48D0FD9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8679-4495-5D3D-779A-58306038F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9290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56F8-734E-5C0C-75A0-164E72AD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66F5F5-45A4-7B61-774E-97810C89DC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E4ED2-2271-57ED-1D7C-8343078933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612FA4-837F-BF8E-6FB9-E78ADDE6D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032553-C806-B6E1-A65E-CA87D4CFB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E80A9-C224-E856-8B33-ECC75EF521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0B650-01C9-3521-E1EE-E7E5D4853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964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C553-7CC4-D39C-52F6-B74FC315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4477B2-A44D-A7EC-5898-4E00279D90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382D8-8725-27D6-FD58-57E84B4836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ADB51B-299C-BCE7-4D51-EABBDDE34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573ACC-C607-E465-5DD2-D3F51211C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83F51-0AB0-DB55-9707-970B51C9CD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B575E-EF00-2513-4743-36F448840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56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79AD-64BC-1C24-3977-6465A642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719C-6220-40C6-98C0-9DCDD20934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D2789-EF2A-FBF6-545F-99975F340D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7F0E8-3285-03FB-8F70-3FADF4020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4B41A5-8FD1-581C-9E82-39664C3F6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8AA-36C6-2F94-67BC-FBCC110F03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98FB-9558-F1F2-97A7-174C506C4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27029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184E-7CDE-94EE-2631-5158887ED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851C97-F053-6EC3-2CBB-1DD584EA32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530B1-7DE8-8F83-AD94-0A02F276DB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DBF8B32-CDBE-15F4-061A-0DCF660EA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4A4BE22-C6F6-4AFB-2801-3B0A81275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8F58F-ECE8-FA48-CC7A-A7D65E3830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55FA1-2701-56CF-CE1A-C546D4846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6512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ADDF-0BAD-85FA-25BD-478B4F25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66BC06-04F9-C32D-00C1-B759D0E38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1145-D8A7-55A6-2F89-52159F8F53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DDEB1F-C9F0-AE6C-9F4B-2C59A5348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769816-6304-66B2-3C22-145045DD2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8DCFD-1C91-26EB-9284-BF0A91C690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1424C-60B3-F9B6-9FE1-92C397C8F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288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E5FA6-F561-73B3-8709-76D6E5AFBAB2}"/>
              </a:ext>
            </a:extLst>
          </p:cNvPr>
          <p:cNvSpPr txBox="1"/>
          <p:nvPr/>
        </p:nvSpPr>
        <p:spPr>
          <a:xfrm>
            <a:off x="4168284" y="3150686"/>
            <a:ext cx="1044744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000" b="1" dirty="0" err="1">
                <a:latin typeface="Times New Roman"/>
                <a:ea typeface="+mn-lt"/>
                <a:cs typeface="Times New Roman"/>
              </a:rPr>
              <a:t>AgentDiag</a:t>
            </a:r>
            <a:endParaRPr lang="en-US" sz="5000" b="1" dirty="0" err="1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5000" b="1">
                <a:latin typeface="Times New Roman"/>
                <a:ea typeface="+mn-lt"/>
                <a:cs typeface="Times New Roman"/>
              </a:rPr>
              <a:t>Calibrated Probabilistic </a:t>
            </a:r>
            <a:r>
              <a:rPr lang="en-US" sz="5000" b="1" dirty="0">
                <a:latin typeface="Times New Roman"/>
                <a:ea typeface="+mn-lt"/>
                <a:cs typeface="Times New Roman"/>
              </a:rPr>
              <a:t>Root-Cause Attribution for Multi-Agent LLM 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5AD0EB-C345-9506-FD42-C4AE4491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313" y="533431"/>
            <a:ext cx="275182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Title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84999-2B31-3B18-2E06-30FF62CB1A2F}"/>
              </a:ext>
            </a:extLst>
          </p:cNvPr>
          <p:cNvSpPr txBox="1"/>
          <p:nvPr/>
        </p:nvSpPr>
        <p:spPr>
          <a:xfrm>
            <a:off x="4751091" y="6068920"/>
            <a:ext cx="877972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latin typeface="Times New Roman"/>
                <a:ea typeface="Calibri"/>
                <a:cs typeface="Times New Roman"/>
              </a:rPr>
              <a:t>By</a:t>
            </a:r>
            <a:endParaRPr lang="en-US" sz="3600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3600">
                <a:latin typeface="Times New Roman"/>
                <a:ea typeface="Calibri"/>
                <a:cs typeface="Times New Roman"/>
              </a:rPr>
              <a:t>G Shiva (CH.SC.U4AIE24020)</a:t>
            </a:r>
            <a:br>
              <a:rPr lang="en-US" sz="3600" dirty="0">
                <a:latin typeface="Times New Roman"/>
                <a:ea typeface="Calibri"/>
                <a:cs typeface="Times New Roman"/>
              </a:rPr>
            </a:br>
            <a:r>
              <a:rPr lang="en-US" sz="3600">
                <a:latin typeface="Times New Roman"/>
                <a:ea typeface="Calibri"/>
                <a:cs typeface="Times New Roman"/>
              </a:rPr>
              <a:t>Pabbathi Nikhil (CH.SC.U4AIE24049)</a:t>
            </a:r>
          </a:p>
          <a:p>
            <a:pPr algn="ctr"/>
            <a:r>
              <a:rPr lang="en-US" sz="3600" dirty="0">
                <a:latin typeface="Times New Roman"/>
                <a:ea typeface="Calibri"/>
                <a:cs typeface="Times New Roman"/>
              </a:rPr>
              <a:t>Sri Nivya </a:t>
            </a:r>
            <a:r>
              <a:rPr lang="en-US" sz="3600">
                <a:latin typeface="Times New Roman"/>
                <a:ea typeface="Calibri"/>
                <a:cs typeface="Times New Roman"/>
              </a:rPr>
              <a:t>Saladi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(CH.SC.U4AIE24064)</a:t>
            </a:r>
          </a:p>
          <a:p>
            <a:pPr algn="ctr"/>
            <a:r>
              <a:rPr lang="en-US" sz="3600" dirty="0">
                <a:latin typeface="Times New Roman"/>
                <a:ea typeface="Calibri"/>
                <a:cs typeface="Times New Roman"/>
              </a:rPr>
              <a:t>E </a:t>
            </a:r>
            <a:r>
              <a:rPr lang="en-US" sz="3600" dirty="0" err="1">
                <a:latin typeface="Times New Roman"/>
                <a:ea typeface="Calibri"/>
                <a:cs typeface="Times New Roman"/>
              </a:rPr>
              <a:t>Nishnath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(CH.SC.U4AIE24088)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99FB-3EFA-ECA4-C74F-B6CF319D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574698-9131-5600-B012-9CEACB5086FB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7DCE89-93D4-261C-1284-A8022BC82A59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3DD4CD14-7289-888A-EC94-1D704A6E8CD7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B318A1-EF7E-D53E-02EF-0FFA66AE00C9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84E77-247D-DC9A-46E0-AF3CA29ED7F0}"/>
              </a:ext>
            </a:extLst>
          </p:cNvPr>
          <p:cNvSpPr txBox="1"/>
          <p:nvPr/>
        </p:nvSpPr>
        <p:spPr>
          <a:xfrm>
            <a:off x="434484" y="2433081"/>
            <a:ext cx="17524412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Modern LLM systems increasingly use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multiple specialized agents</a:t>
            </a:r>
            <a:r>
              <a:rPr lang="en-US" sz="3600">
                <a:latin typeface="Times New Roman"/>
                <a:ea typeface="+mn-lt"/>
                <a:cs typeface="Times New Roman"/>
              </a:rPr>
              <a:t> such as planners, retrievers, coders, and reviewers working together.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When the final pipeline fails, the observed error does not directly reveal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which agent introduced the original failure</a:t>
            </a:r>
            <a:r>
              <a:rPr lang="en-US" sz="3600">
                <a:latin typeface="Times New Roman"/>
                <a:ea typeface="+mn-lt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An early mistake may propagate through later agents, while a later agent may fail to detect or correct an existing error.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This project frames multi-agent failure diagnosis as a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probabilistic root-cause attribution problem</a:t>
            </a:r>
            <a:r>
              <a:rPr lang="en-US" sz="3600">
                <a:latin typeface="Times New Roman"/>
                <a:ea typeface="+mn-lt"/>
                <a:cs typeface="Times New Roman"/>
              </a:rPr>
              <a:t> rather than a single-label classification problem. </a:t>
            </a:r>
            <a:endParaRPr lang="en-US" sz="3600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+mn-lt"/>
              <a:cs typeface="Times New Roman"/>
            </a:endParaRPr>
          </a:p>
          <a:p>
            <a:r>
              <a:rPr lang="en-US" sz="3600" b="1">
                <a:latin typeface="Times New Roman"/>
                <a:ea typeface="+mn-lt"/>
                <a:cs typeface="Times New Roman"/>
              </a:rPr>
              <a:t>Key idea: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3600" dirty="0">
                <a:latin typeface="Times New Roman"/>
                <a:ea typeface="+mn-lt"/>
                <a:cs typeface="Times New Roman"/>
              </a:rPr>
              <a:t>Instead of saying </a:t>
            </a:r>
            <a:r>
              <a:rPr lang="en-US" sz="3600" i="1" dirty="0">
                <a:latin typeface="Times New Roman"/>
                <a:ea typeface="+mn-lt"/>
                <a:cs typeface="Times New Roman"/>
              </a:rPr>
              <a:t>“Agent 2 is responsible,”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3600" dirty="0" err="1">
                <a:latin typeface="Times New Roman"/>
                <a:ea typeface="+mn-lt"/>
                <a:cs typeface="Times New Roman"/>
              </a:rPr>
              <a:t>AgentDiag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estimates a probability distribution over possible root causes.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A712E07-2446-0BEE-5397-6C2CFD6E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13" y="518191"/>
            <a:ext cx="672946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Introduction</a:t>
            </a:r>
            <a:endParaRPr lang="en-US" sz="6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849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5B1D-6EA0-2986-6F6C-2F7D168F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82C26F-2609-56BB-128F-B5E9E414C61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7EC36A-66F8-A71F-8860-F1FC9D0FFBFD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6929B9C-985F-A175-FB79-580E2E2906BC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D95A440-4BC9-7D00-03EB-6372CDEE0334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CC96C-DAEC-15F7-2E3C-77108278B342}"/>
              </a:ext>
            </a:extLst>
          </p:cNvPr>
          <p:cNvSpPr txBox="1"/>
          <p:nvPr/>
        </p:nvSpPr>
        <p:spPr>
          <a:xfrm>
            <a:off x="451049" y="2433081"/>
            <a:ext cx="17490795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Multi-agent LLM pipelines contain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dependent stages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making failures difficult to localize.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Existing LLM-based diagnosis approaches often produce a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single root-cause prediction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3600">
                <a:latin typeface="Times New Roman"/>
                <a:ea typeface="+mn-lt"/>
                <a:cs typeface="Times New Roman"/>
              </a:rPr>
              <a:t>rather than calibrated probabilities.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 diagnosis can be correct while its confidence is misleading—for example, predicting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90% confidence but being correct only 60% of the time</a:t>
            </a:r>
            <a:r>
              <a:rPr lang="en-US" sz="3600">
                <a:latin typeface="Times New Roman"/>
                <a:ea typeface="+mn-lt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Agent logs or intermediate outputs may sometimes be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missing or incomplete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making deterministic diagnosis unreliable.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Times New Roman"/>
                <a:ea typeface="+mn-lt"/>
                <a:cs typeface="Times New Roman"/>
              </a:rPr>
              <a:t>Agent reliability can also </a:t>
            </a:r>
            <a:r>
              <a:rPr lang="en-US" sz="3600" b="1">
                <a:latin typeface="Times New Roman"/>
                <a:ea typeface="+mn-lt"/>
                <a:cs typeface="Times New Roman"/>
              </a:rPr>
              <a:t>change over time</a:t>
            </a:r>
            <a:r>
              <a:rPr lang="en-US" sz="3600">
                <a:latin typeface="Times New Roman"/>
                <a:ea typeface="+mn-lt"/>
                <a:cs typeface="Times New Roman"/>
              </a:rPr>
              <a:t>, causing degradation that may only become visible after the final failure. </a:t>
            </a:r>
            <a:endParaRPr lang="en-US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+mn-lt"/>
              <a:cs typeface="Times New Roman"/>
            </a:endParaRPr>
          </a:p>
          <a:p>
            <a:r>
              <a:rPr lang="en-US" sz="3600" b="1">
                <a:latin typeface="Times New Roman"/>
                <a:ea typeface="+mn-lt"/>
                <a:cs typeface="Times New Roman"/>
              </a:rPr>
              <a:t>Consequence:</a:t>
            </a:r>
            <a:br>
              <a:rPr lang="en-US" sz="3600" b="1" dirty="0">
                <a:latin typeface="Times New Roman"/>
                <a:ea typeface="+mn-lt"/>
                <a:cs typeface="Times New Roman"/>
              </a:rPr>
            </a:br>
            <a:r>
              <a:rPr lang="en-US" sz="3600">
                <a:latin typeface="Times New Roman"/>
                <a:ea typeface="+mn-lt"/>
                <a:cs typeface="Times New Roman"/>
              </a:rPr>
              <a:t>A system needs to identify who most likely caused the failure, how uncertain that </a:t>
            </a:r>
            <a:r>
              <a:rPr lang="en-US" sz="3600" dirty="0">
                <a:latin typeface="Times New Roman"/>
                <a:ea typeface="+mn-lt"/>
                <a:cs typeface="Times New Roman"/>
              </a:rPr>
              <a:t>attribution is, and whether its confidence is trustworthy.</a:t>
            </a:r>
            <a:endParaRPr lang="en-US">
              <a:latin typeface="Times New Roman"/>
              <a:cs typeface="Times New Roman"/>
            </a:endParaRPr>
          </a:p>
          <a:p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F4019A-8A5D-EE1E-4A96-26A3B57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13" y="518191"/>
            <a:ext cx="6729466" cy="1143000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Proble</a:t>
            </a:r>
            <a:r>
              <a:rPr lang="en-US" sz="6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 Statement</a:t>
            </a:r>
            <a:endParaRPr lang="en-US" sz="6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541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C9AA-1844-864B-F419-D5AA0044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8A3C34-4738-CC59-CCEA-F9A0FD2F72C6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F9E879-F10F-3A2D-0D4C-1F241B0D838A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4634C8F-5E0F-FDA9-5156-FA2482A4CCC5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E4F4D5-BEA6-7909-589A-E097ACCD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Literature Review</a:t>
            </a:r>
            <a:endParaRPr lang="en-US" sz="50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05B5E9-7A90-0891-79D1-ADBE1F0D2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34076"/>
              </p:ext>
            </p:extLst>
          </p:nvPr>
        </p:nvGraphicFramePr>
        <p:xfrm>
          <a:off x="0" y="2101102"/>
          <a:ext cx="18287995" cy="816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761360543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629987798"/>
                    </a:ext>
                  </a:extLst>
                </a:gridCol>
                <a:gridCol w="2932319">
                  <a:extLst>
                    <a:ext uri="{9D8B030D-6E8A-4147-A177-3AD203B41FA5}">
                      <a16:colId xmlns:a16="http://schemas.microsoft.com/office/drawing/2014/main" val="1052637645"/>
                    </a:ext>
                  </a:extLst>
                </a:gridCol>
                <a:gridCol w="5217803">
                  <a:extLst>
                    <a:ext uri="{9D8B030D-6E8A-4147-A177-3AD203B41FA5}">
                      <a16:colId xmlns:a16="http://schemas.microsoft.com/office/drawing/2014/main" val="1630447183"/>
                    </a:ext>
                  </a:extLst>
                </a:gridCol>
                <a:gridCol w="5051524">
                  <a:extLst>
                    <a:ext uri="{9D8B030D-6E8A-4147-A177-3AD203B41FA5}">
                      <a16:colId xmlns:a16="http://schemas.microsoft.com/office/drawing/2014/main" val="191454697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Paper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Year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Authors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Key Findings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Limitation / Gap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638659"/>
                  </a:ext>
                </a:extLst>
              </a:tr>
              <a:tr h="17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Which Agent Causes Task Failures and When? (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Who&amp;When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Zhang et al.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Introduced automated failure attribution and the 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Who&amp;When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benchmark; best method achieved 53.5% agent-level and 14.2% step-level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Primarily uses LLM-based attribution; produces a discrete attribution rather than calibrated probability.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243466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Automatic Failure Attribution and Critical Step Prediction Based on Causal Inference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Guoqing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Uses causal inference, Shapley values and causal discovery; achieved up to 36.2% step-level accuracy.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Focuses on causal attribution and optimization rather than probabilistic confidence/calibration.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035230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StepFinder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: A Temporal Semantic Framework for Failure Attribution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Taiyu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Zhu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Models temporal and cross-step dependencies; improves step-level attribution and reduces inference time by 79%.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Designed primarily for identifying the failure step; does not provide Bayesian root-cause probabilities or calibration.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81496"/>
                  </a:ext>
                </a:extLst>
              </a:tr>
              <a:tr h="141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Agentic Confidence Calibration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Jiaxin Zhang, </a:t>
                      </a: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Caiming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Xiong, Chien-Sheng Wu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Introduces Holistic Trajectory Calibration for confidence estimation across agent trajectories; improves calibration and generalization.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Focuses on confidence calibration, not identifying which agent caused a system failure.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297877"/>
                  </a:ext>
                </a:extLst>
              </a:tr>
              <a:tr h="17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Uncertainty Quantification in LLM Agents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2026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Changdae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Oh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Establishes foundations for uncertainty quantification in interactive LLM agents and identifies challenges in uncertainty dynamics and heterogeneous entities.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Highlights the need for agent-level UQ but does not provide a specific probabilistic root-cause attribution system.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22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4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F317-62B5-0759-2151-FE9AC041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060058-3847-AE73-B512-2FF56D12A12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339E53-995B-298C-E24D-6EDFD06A4AC8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21735A70-F1B8-42B4-E309-26D61CA5A80F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128B2C-F11C-F179-64D9-36F0A6F38B26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D9C30-8809-3EE9-45A3-8DB26DED0E68}"/>
              </a:ext>
            </a:extLst>
          </p:cNvPr>
          <p:cNvSpPr txBox="1"/>
          <p:nvPr/>
        </p:nvSpPr>
        <p:spPr>
          <a:xfrm>
            <a:off x="800244" y="3027441"/>
            <a:ext cx="16695849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Model dependencies between agent failures using a </a:t>
            </a:r>
            <a:r>
              <a:rPr lang="en-US" sz="3600" b="1">
                <a:ea typeface="+mn-lt"/>
                <a:cs typeface="+mn-lt"/>
              </a:rPr>
              <a:t>Bayesian Network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Compute root-cause probabilities using </a:t>
            </a:r>
            <a:r>
              <a:rPr lang="en-US" sz="3600" b="1">
                <a:ea typeface="+mn-lt"/>
                <a:cs typeface="+mn-lt"/>
              </a:rPr>
              <a:t>Variable Elimination built on standard libraries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Learn model parameters from </a:t>
            </a:r>
            <a:r>
              <a:rPr lang="en-US" sz="3600" b="1">
                <a:ea typeface="+mn-lt"/>
                <a:cs typeface="+mn-lt"/>
              </a:rPr>
              <a:t>real multi-agent execution data</a:t>
            </a:r>
            <a:r>
              <a:rPr lang="en-US" sz="3600">
                <a:ea typeface="+mn-lt"/>
                <a:cs typeface="+mn-lt"/>
              </a:rPr>
              <a:t> instead of manually assigning probabilities. 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Handle </a:t>
            </a:r>
            <a:r>
              <a:rPr lang="en-US" sz="3600" b="1">
                <a:ea typeface="+mn-lt"/>
                <a:cs typeface="+mn-lt"/>
              </a:rPr>
              <a:t>missing observations/logs</a:t>
            </a:r>
            <a:r>
              <a:rPr lang="en-US" sz="3600">
                <a:ea typeface="+mn-lt"/>
                <a:cs typeface="+mn-lt"/>
              </a:rPr>
              <a:t> through probabilistic inference. 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Produce a </a:t>
            </a:r>
            <a:r>
              <a:rPr lang="en-US" sz="3600" b="1">
                <a:ea typeface="+mn-lt"/>
                <a:cs typeface="+mn-lt"/>
              </a:rPr>
              <a:t>calibrated probability distribution</a:t>
            </a:r>
            <a:r>
              <a:rPr lang="en-US" sz="3600">
                <a:ea typeface="+mn-lt"/>
                <a:cs typeface="+mn-lt"/>
              </a:rPr>
              <a:t> over candidate root causes. 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Track changing agent reliability across multiple turns using an </a:t>
            </a:r>
            <a:r>
              <a:rPr lang="en-US" sz="3600" b="1">
                <a:ea typeface="+mn-lt"/>
                <a:cs typeface="+mn-lt"/>
              </a:rPr>
              <a:t>HMM</a:t>
            </a:r>
            <a:r>
              <a:rPr lang="en-US" sz="3600">
                <a:ea typeface="+mn-lt"/>
                <a:cs typeface="+mn-lt"/>
              </a:rPr>
              <a:t>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3600" dirty="0">
              <a:ea typeface="+mn-lt"/>
              <a:cs typeface="+mn-lt"/>
            </a:endParaRPr>
          </a:p>
          <a:p>
            <a:r>
              <a:rPr lang="en-US" sz="3600" dirty="0" err="1">
                <a:ea typeface="+mn-lt"/>
                <a:cs typeface="+mn-lt"/>
              </a:rPr>
              <a:t>AgentDiag</a:t>
            </a:r>
            <a:r>
              <a:rPr lang="en-US" sz="3600" dirty="0">
                <a:ea typeface="+mn-lt"/>
                <a:cs typeface="+mn-lt"/>
              </a:rPr>
              <a:t> combines:</a:t>
            </a:r>
            <a:endParaRPr lang="en-US" dirty="0">
              <a:ea typeface="Calibri"/>
              <a:cs typeface="Calibri"/>
            </a:endParaRPr>
          </a:p>
          <a:p>
            <a:r>
              <a:rPr lang="en-US" sz="2800" b="1">
                <a:ea typeface="+mn-lt"/>
                <a:cs typeface="+mn-lt"/>
              </a:rPr>
              <a:t>Bayesian Network → Variable Elimination → Parameter Learning →</a:t>
            </a:r>
            <a:br>
              <a:rPr lang="en-US" sz="2800" b="1">
                <a:ea typeface="+mn-lt"/>
                <a:cs typeface="+mn-lt"/>
              </a:rPr>
            </a:br>
            <a:r>
              <a:rPr lang="en-US" sz="2800" b="1">
                <a:ea typeface="+mn-lt"/>
                <a:cs typeface="+mn-lt"/>
              </a:rPr>
              <a:t>Ensemble Fusion → Calibration → HMM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BECA7D5-F97A-9D60-3C59-DB7757F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833" y="518191"/>
            <a:ext cx="13480786" cy="1143000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Objectives &amp; Proposed Solution</a:t>
            </a: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80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EB0D-C55E-B5E8-8667-F1A37BBB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A49297-87AE-A149-3346-9324089B8BFD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4EAFF3-C17B-0465-9D6A-3B9B17A48757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0D43BCF1-0629-DEB9-8254-7594E78F9ECC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EAE64E-B73B-8692-587C-3AFB4102DB9B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B7E32E9-1417-C508-A554-95CC97047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Methodology / Algorithms &amp; Techniques</a:t>
            </a:r>
            <a:endParaRPr lang="en-US" sz="5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B81F5-B787-1515-93B3-D0757E87B4CC}"/>
              </a:ext>
            </a:extLst>
          </p:cNvPr>
          <p:cNvSpPr txBox="1"/>
          <p:nvPr/>
        </p:nvSpPr>
        <p:spPr>
          <a:xfrm>
            <a:off x="924339" y="2569265"/>
            <a:ext cx="14558175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Bayesian Network:</a:t>
            </a:r>
            <a:br>
              <a:rPr lang="en-US" sz="2400" dirty="0">
                <a:latin typeface="Times New Roman"/>
                <a:ea typeface="+mn-lt"/>
                <a:cs typeface="Times New Roman"/>
              </a:rPr>
            </a:br>
            <a:r>
              <a:rPr lang="en-US" sz="2400" dirty="0">
                <a:latin typeface="Times New Roman"/>
                <a:ea typeface="+mn-lt"/>
                <a:cs typeface="Times New Roman"/>
              </a:rPr>
              <a:t>Models dependencies among agent failures.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Variable Elimination: 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Computes P(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Agenti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 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failed∣Pipeline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 Failure), using standard libraries for plumbing so effort focuses on the calibration model.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Parameter Learning: </a:t>
            </a:r>
            <a:r>
              <a:rPr lang="en-US" sz="2400">
                <a:latin typeface="Times New Roman"/>
                <a:ea typeface="+mn-lt"/>
                <a:cs typeface="Times New Roman"/>
              </a:rPr>
              <a:t>CPT values are estimated from actual p</a:t>
            </a:r>
            <a:r>
              <a:rPr lang="en-US" sz="2400" err="1">
                <a:latin typeface="Times New Roman"/>
                <a:ea typeface="+mn-lt"/>
                <a:cs typeface="Times New Roman"/>
              </a:rPr>
              <a:t>i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peline runs.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Calibration:</a:t>
            </a:r>
            <a:br>
              <a:rPr lang="en-US" sz="2400" dirty="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Checks predicted probabilities against actual frequencies using ECE, Brier Score, and reliability diagrams.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HMM:</a:t>
            </a:r>
            <a:br>
              <a:rPr lang="en-US" sz="2400" dirty="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Tracks hidden agent reliability states over multiple turns.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Ensemble Learning:</a:t>
            </a:r>
            <a:br>
              <a:rPr lang="en-US" sz="2400" dirty="0">
                <a:latin typeface="Times New Roman"/>
                <a:ea typeface="+mn-lt"/>
                <a:cs typeface="Times New Roman"/>
              </a:rPr>
            </a:br>
            <a:r>
              <a:rPr lang="en-US" sz="2400">
                <a:latin typeface="Times New Roman"/>
                <a:ea typeface="+mn-lt"/>
                <a:cs typeface="Times New Roman"/>
              </a:rPr>
              <a:t>Combines multiple BN instances via bagging and weighted-average fusion to improve robustness.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235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3DFE-0294-D437-99BA-2671FAE4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7F0106-A587-4B8D-296B-7803948A5BB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0BE4CA-9E8E-3BDF-FEEC-629DA9D695F3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96E81623-F8EE-6E48-BF16-9C304DEEF981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6E03DD-569A-6EB7-BE12-CF5A20509E72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F5511C-AC10-2053-725D-6F8BACC0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System Architecture</a:t>
            </a:r>
            <a:endParaRPr lang="en-US" sz="5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75C311-457C-BBE6-2925-8389EECC2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4" y="2203175"/>
            <a:ext cx="6783781" cy="80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4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26BE6-58BB-8315-158B-0F284384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27ECE2-6DEF-A8E6-4345-6A73A0B8072A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BC304F-6EF1-096D-2858-336FF052DCC9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2265959-32AA-4B09-87DF-611D1E5D9768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444AE3-F7C9-5605-0B39-D227C36DF056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1699C9-EE23-AD01-14F2-87532587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348" y="518191"/>
            <a:ext cx="11301466" cy="1143000"/>
          </a:xfrm>
        </p:spPr>
        <p:txBody>
          <a:bodyPr>
            <a:noAutofit/>
          </a:bodyPr>
          <a:lstStyle/>
          <a:p>
            <a:r>
              <a:rPr lang="en-US" sz="5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Expected Outcomes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D30EC-EFDD-2116-F40E-726C06AAB02B}"/>
              </a:ext>
            </a:extLst>
          </p:cNvPr>
          <p:cNvSpPr txBox="1"/>
          <p:nvPr/>
        </p:nvSpPr>
        <p:spPr>
          <a:xfrm>
            <a:off x="2133600" y="2552700"/>
            <a:ext cx="145084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B8164-6C48-EB3D-54E4-6080CD86AF03}"/>
              </a:ext>
            </a:extLst>
          </p:cNvPr>
          <p:cNvSpPr txBox="1"/>
          <p:nvPr/>
        </p:nvSpPr>
        <p:spPr>
          <a:xfrm>
            <a:off x="894522" y="3271631"/>
            <a:ext cx="1699591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Probability distribution over possible root-cause agents instead of a single guess.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Data-driven probabilistic model learned from actual executions.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Ability to reason with </a:t>
            </a:r>
            <a:r>
              <a:rPr lang="en-US" sz="3600" b="1">
                <a:latin typeface="Times New Roman"/>
                <a:cs typeface="Times New Roman"/>
              </a:rPr>
              <a:t>missing agent observations</a:t>
            </a:r>
            <a:r>
              <a:rPr lang="en-US" sz="3600">
                <a:latin typeface="Times New Roman"/>
                <a:cs typeface="Times New Roman"/>
              </a:rPr>
              <a:t>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Quantitative </a:t>
            </a:r>
            <a:r>
              <a:rPr lang="en-US" sz="3600" b="1">
                <a:latin typeface="Times New Roman"/>
                <a:cs typeface="Times New Roman"/>
              </a:rPr>
              <a:t>calibration</a:t>
            </a:r>
            <a:r>
              <a:rPr lang="en-US" sz="3600">
                <a:latin typeface="Times New Roman"/>
                <a:cs typeface="Times New Roman"/>
              </a:rPr>
              <a:t> of diagnosis confidence.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Times New Roman"/>
                <a:cs typeface="Times New Roman"/>
              </a:rPr>
              <a:t>Early identification of </a:t>
            </a:r>
            <a:r>
              <a:rPr lang="en-US" sz="3600" b="1">
                <a:latin typeface="Times New Roman"/>
                <a:cs typeface="Times New Roman"/>
              </a:rPr>
              <a:t>agent reliability degradation</a:t>
            </a:r>
            <a:r>
              <a:rPr lang="en-US" sz="3600">
                <a:latin typeface="Times New Roman"/>
                <a:cs typeface="Times New Roman"/>
              </a:rPr>
              <a:t> using HMM. </a:t>
            </a:r>
            <a:endParaRPr lang="en-US" sz="36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Evaluation against the </a:t>
            </a:r>
            <a:r>
              <a:rPr lang="en-US" sz="3600" b="1" dirty="0" err="1">
                <a:latin typeface="Times New Roman"/>
                <a:cs typeface="Times New Roman"/>
              </a:rPr>
              <a:t>Who&amp;When</a:t>
            </a:r>
            <a:r>
              <a:rPr lang="en-US" sz="3600" b="1" dirty="0">
                <a:latin typeface="Times New Roman"/>
                <a:cs typeface="Times New Roman"/>
              </a:rPr>
              <a:t> benchmark</a:t>
            </a:r>
            <a:r>
              <a:rPr lang="en-US" sz="3600" dirty="0">
                <a:latin typeface="Times New Roman"/>
                <a:cs typeface="Times New Roman"/>
              </a:rPr>
              <a:t>, comparing against current SOTA (AgenTracer) rather than the original 53.5%/14.2% baseline. </a:t>
            </a:r>
          </a:p>
          <a:p>
            <a:endParaRPr lang="en-US" sz="3600" dirty="0">
              <a:latin typeface="Times New Roman"/>
              <a:cs typeface="Times New Roman"/>
            </a:endParaRPr>
          </a:p>
          <a:p>
            <a:r>
              <a:rPr lang="en-US" sz="3600" b="1" dirty="0">
                <a:latin typeface="Times New Roman"/>
                <a:cs typeface="Times New Roman"/>
              </a:rPr>
              <a:t>Future work:</a:t>
            </a:r>
            <a:r>
              <a:rPr lang="en-US" sz="3600" dirty="0">
                <a:latin typeface="Times New Roman"/>
                <a:cs typeface="Times New Roman"/>
              </a:rPr>
              <a:t> full implementation, quantitative evaluation and </a:t>
            </a:r>
            <a:r>
              <a:rPr lang="en-US" sz="3600">
                <a:latin typeface="Times New Roman"/>
                <a:cs typeface="Times New Roman"/>
              </a:rPr>
              <a:t>benchmark analysis.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595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5B1D-6EA0-2986-6F6C-2F7D168F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82C26F-2609-56BB-128F-B5E9E414C615}"/>
              </a:ext>
            </a:extLst>
          </p:cNvPr>
          <p:cNvGrpSpPr/>
          <p:nvPr/>
        </p:nvGrpSpPr>
        <p:grpSpPr>
          <a:xfrm>
            <a:off x="0" y="-986"/>
            <a:ext cx="18288000" cy="2200711"/>
            <a:chOff x="0" y="0"/>
            <a:chExt cx="24384000" cy="34806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7EC36A-66F8-A71F-8860-F1FC9D0FFBFD}"/>
                </a:ext>
              </a:extLst>
            </p:cNvPr>
            <p:cNvSpPr/>
            <p:nvPr/>
          </p:nvSpPr>
          <p:spPr>
            <a:xfrm>
              <a:off x="0" y="0"/>
              <a:ext cx="24384000" cy="3480562"/>
            </a:xfrm>
            <a:custGeom>
              <a:avLst/>
              <a:gdLst/>
              <a:ahLst/>
              <a:cxnLst/>
              <a:rect l="l" t="t" r="r" b="b"/>
              <a:pathLst>
                <a:path w="24384000" h="3480562">
                  <a:moveTo>
                    <a:pt x="0" y="0"/>
                  </a:moveTo>
                  <a:lnTo>
                    <a:pt x="24384000" y="0"/>
                  </a:lnTo>
                  <a:lnTo>
                    <a:pt x="24384000" y="3480562"/>
                  </a:lnTo>
                  <a:lnTo>
                    <a:pt x="0" y="3480562"/>
                  </a:lnTo>
                  <a:close/>
                </a:path>
              </a:pathLst>
            </a:custGeom>
            <a:solidFill>
              <a:srgbClr val="AE1D49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6929B9C-985F-A175-FB79-580E2E2906BC}"/>
              </a:ext>
            </a:extLst>
          </p:cNvPr>
          <p:cNvSpPr/>
          <p:nvPr/>
        </p:nvSpPr>
        <p:spPr>
          <a:xfrm>
            <a:off x="13864962" y="8984827"/>
            <a:ext cx="4061946" cy="910288"/>
          </a:xfrm>
          <a:custGeom>
            <a:avLst/>
            <a:gdLst/>
            <a:ahLst/>
            <a:cxnLst/>
            <a:rect l="l" t="t" r="r" b="b"/>
            <a:pathLst>
              <a:path w="4061946" h="910288">
                <a:moveTo>
                  <a:pt x="0" y="0"/>
                </a:moveTo>
                <a:lnTo>
                  <a:pt x="4061946" y="0"/>
                </a:lnTo>
                <a:lnTo>
                  <a:pt x="4061946" y="910288"/>
                </a:lnTo>
                <a:lnTo>
                  <a:pt x="0" y="91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D95A440-4BC9-7D00-03EB-6372CDEE0334}"/>
              </a:ext>
            </a:extLst>
          </p:cNvPr>
          <p:cNvSpPr/>
          <p:nvPr/>
        </p:nvSpPr>
        <p:spPr>
          <a:xfrm>
            <a:off x="0" y="-3572"/>
            <a:ext cx="1837549" cy="2203296"/>
          </a:xfrm>
          <a:custGeom>
            <a:avLst/>
            <a:gdLst/>
            <a:ahLst/>
            <a:cxnLst/>
            <a:rect l="l" t="t" r="r" b="b"/>
            <a:pathLst>
              <a:path w="1837549" h="2203296">
                <a:moveTo>
                  <a:pt x="0" y="0"/>
                </a:moveTo>
                <a:lnTo>
                  <a:pt x="1837549" y="0"/>
                </a:lnTo>
                <a:lnTo>
                  <a:pt x="1837549" y="2203296"/>
                </a:lnTo>
                <a:lnTo>
                  <a:pt x="0" y="220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CC96C-DAEC-15F7-2E3C-77108278B342}"/>
              </a:ext>
            </a:extLst>
          </p:cNvPr>
          <p:cNvSpPr txBox="1"/>
          <p:nvPr/>
        </p:nvSpPr>
        <p:spPr>
          <a:xfrm>
            <a:off x="451049" y="2433081"/>
            <a:ext cx="17490795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AgenTracer (2026): </a:t>
            </a:r>
            <a:r>
              <a:rPr lang="en-US" sz="2800">
                <a:latin typeface="Times New Roman"/>
                <a:ea typeface="+mn-lt"/>
                <a:cs typeface="Times New Roman"/>
              </a:rPr>
              <a:t>current state of the art on Who&amp;When, surpassing the original 53.5%/14.2% baseline — the real bar AgentDiag needs to clear.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Ensemble BN (2024): </a:t>
            </a:r>
            <a:r>
              <a:rPr lang="en-US" sz="2800">
                <a:latin typeface="Times New Roman"/>
                <a:ea typeface="+mn-lt"/>
                <a:cs typeface="Times New Roman"/>
              </a:rPr>
              <a:t>the core methodology base for AgentDiag, using bagging and weighted-average fusion across Bayesian Network instances; missing from the original literature review.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Flat Logs to Causal Graphs (2026): </a:t>
            </a:r>
            <a:r>
              <a:rPr lang="en-US" sz="2800">
                <a:latin typeface="Times New Roman"/>
                <a:ea typeface="+mn-lt"/>
                <a:cs typeface="Times New Roman"/>
              </a:rPr>
              <a:t>converts raw execution logs into causal graphs for failure attribution — a close, unaddressed competitor.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Rethinking Failure Attribution (2026): </a:t>
            </a:r>
            <a:r>
              <a:rPr lang="en-US" sz="2800">
                <a:latin typeface="Times New Roman"/>
                <a:ea typeface="+mn-lt"/>
                <a:cs typeface="Times New Roman"/>
              </a:rPr>
              <a:t>proposes an alternative attribution formulation; another closely related approach not yet addressed.</a:t>
            </a:r>
            <a:endParaRPr lang="en-US" sz="2800">
              <a:latin typeface="Times New Roman"/>
              <a:cs typeface="Times New Roman"/>
            </a:endParaRPr>
          </a:p>
          <a:p>
            <a:endParaRPr lang="en-US" sz="2800">
              <a:latin typeface="Times New Roman"/>
              <a:ea typeface="+mn-lt"/>
              <a:cs typeface="Times New Roman"/>
            </a:endParaRPr>
          </a:p>
          <a:p>
            <a:r>
              <a:rPr lang="en-US" sz="2000" i="1">
                <a:latin typeface="Times New Roman"/>
                <a:ea typeface="+mn-lt"/>
                <a:cs typeface="Times New Roman"/>
              </a:rPr>
              <a:t>Note: some of the above are preprints and have not yet completed peer review.</a:t>
            </a:r>
            <a:endParaRPr lang="en-US" sz="2000" i="1">
              <a:latin typeface="Times New Roman"/>
              <a:cs typeface="Times New Roman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F4019A-8A5D-EE1E-4A96-26A3B57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0" y="400000"/>
            <a:ext cx="11800000" cy="1600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Updated SOTA &amp; Closest Competitors</a:t>
            </a:r>
            <a:br>
              <a:rPr lang="en-US" sz="4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4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(2026)</a:t>
            </a:r>
            <a:endParaRPr lang="en-US" sz="4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541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10</Words>
  <Application>Microsoft Office PowerPoint</Application>
  <PresentationFormat>Custom</PresentationFormat>
  <Paragraphs>10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Title</vt:lpstr>
      <vt:lpstr>Introduction</vt:lpstr>
      <vt:lpstr>Problem Statement</vt:lpstr>
      <vt:lpstr>Literature Review</vt:lpstr>
      <vt:lpstr>Objectives &amp; Proposed Solution</vt:lpstr>
      <vt:lpstr>Methodology / Algorithms &amp; Techniques</vt:lpstr>
      <vt:lpstr>System Architecture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0th Rev</dc:title>
  <dc:creator>SHIVA GUMMALLA</dc:creator>
  <cp:lastModifiedBy>KURUVA HARSHA-[CH.SC.U4AIE24040]</cp:lastModifiedBy>
  <cp:revision>585</cp:revision>
  <dcterms:created xsi:type="dcterms:W3CDTF">2006-08-16T00:00:00Z</dcterms:created>
  <dcterms:modified xsi:type="dcterms:W3CDTF">2026-08-30T13:26:48Z</dcterms:modified>
  <dc:identifier>DAGZbARvEoo</dc:identifier>
</cp:coreProperties>
</file>