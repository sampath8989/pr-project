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345A15E-902E-4938-A7F7-CA3C9758D28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Pipeline (accessible text description of the diagram): 1) Input: Multi-Agent Execution Trace (Who&amp;When Dataset). 2) Evidence Parsing: map agent outputs to BN observed variables. 3) Inference Engine: hand-rolled Variable Elimination computes P(Agent_i failed | Failure). 4) Temporal Tracker: HMM updates agent state across turns. 5) Calibration Evaluator: computes ECE/Brier Score on the output distribution. 6) Output: calibrated probability distribution over root causes.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B23693-3EB9-49BB-9C32-540B5D1BEA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75B5E6-FBD1-4033-9829-1D3A805F92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DFC6EBC-FC58-45CC-B27A-D1AB98B157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3EC5FA-1B6E-4D33-ACA4-B66ED31920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CFF512F-86B1-47A0-B367-FD6AA6391A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51E4679-BD4B-41C6-BAE1-D2AC8957F7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914C7F5-0F99-4A7E-B1FE-9ACCDAFC29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9F8CFA0-EFBA-41F7-995B-ED6F199AE2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5D52B0B-535C-4675-B71D-556F9B2D2A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38F68A9-E220-465C-BCA2-75843467FC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4A45DDB-1586-49E7-9E7E-9FBC64D891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8008E0-2BDA-4472-B2B1-3AE2B7F163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BEB2CE-6C57-43A0-91E9-26E8503DBB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E29E4F-2BAC-4D90-BFEA-67D843221A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3E632D-5F55-4C84-8186-C56F65E78C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E2DA47-9402-47AF-BB5D-B247D8AC19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CF9CE2-8A31-4122-A7CB-03D5514AFA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13F666-0105-48B6-B858-2EBC1C6A3E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1963C0-F148-40FC-A114-21A806574B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836D12-AB9F-4496-93F1-0CA920983B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C56130-7AB3-4464-AEB5-4974186148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E215A8-D693-4829-AFF4-D785788F3A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73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4" name="Freeform 4"/>
          <p:cNvSpPr/>
          <p:nvPr/>
        </p:nvSpPr>
        <p:spPr>
          <a:xfrm>
            <a:off x="13865040" y="8984880"/>
            <a:ext cx="4061520" cy="910080"/>
          </a:xfrm>
          <a:custGeom>
            <a:avLst/>
            <a:gdLst>
              <a:gd name="textAreaLeft" fmla="*/ 0 w 4061520"/>
              <a:gd name="textAreaRight" fmla="*/ 4061880 w 4061520"/>
              <a:gd name="textAreaTop" fmla="*/ 0 h 910080"/>
              <a:gd name="textAreaBottom" fmla="*/ 910440 h 910080"/>
            </a:gdLst>
            <a:ahLst/>
            <a:rect l="textAreaLeft" t="textAreaTop" r="textAreaRight" b="textAreaBottom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4168440" y="3150720"/>
            <a:ext cx="10447200" cy="23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000" spc="-1" strike="noStrike">
                <a:solidFill>
                  <a:schemeClr val="dk1"/>
                </a:solidFill>
                <a:latin typeface="Times New Roman"/>
                <a:ea typeface="Calibri"/>
              </a:rPr>
              <a:t>AgentDiag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5000" spc="-1" strike="noStrike">
                <a:solidFill>
                  <a:schemeClr val="dk1"/>
                </a:solidFill>
                <a:latin typeface="Times New Roman"/>
                <a:ea typeface="Calibri"/>
              </a:rPr>
              <a:t>Calibrated Probabilistic Root-Cause Attribution for Multi-Agent LLM 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005320" y="533520"/>
            <a:ext cx="27514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chemeClr val="lt1"/>
                </a:solidFill>
                <a:latin typeface="Times New Roman"/>
                <a:ea typeface="Calibri"/>
              </a:rPr>
              <a:t>Title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4750920" y="6068880"/>
            <a:ext cx="87793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By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G Shiva (CH.SC.U4AIE24020)</a:t>
            </a:r>
            <a:br>
              <a:rPr sz="3600"/>
            </a:b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Pabbathi Nikhil (CH.SC.U4AIE24049)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Sri Nivya Saladi (CH.SC.U4AIE24064)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E Nishnath (CH.SC.U4AIE24088)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80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1" name="Freeform 4"/>
          <p:cNvSpPr/>
          <p:nvPr/>
        </p:nvSpPr>
        <p:spPr>
          <a:xfrm>
            <a:off x="13865040" y="8984880"/>
            <a:ext cx="4061520" cy="910080"/>
          </a:xfrm>
          <a:custGeom>
            <a:avLst/>
            <a:gdLst>
              <a:gd name="textAreaLeft" fmla="*/ 0 w 4061520"/>
              <a:gd name="textAreaRight" fmla="*/ 4061880 w 4061520"/>
              <a:gd name="textAreaTop" fmla="*/ 0 h 910080"/>
              <a:gd name="textAreaBottom" fmla="*/ 910440 h 910080"/>
            </a:gdLst>
            <a:ahLst/>
            <a:rect l="textAreaLeft" t="textAreaTop" r="textAreaRight" b="textAreaBottom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434520" y="2433240"/>
            <a:ext cx="17524080" cy="66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Modern LLM systems increasingly use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multiple specialized agents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 such as planners, retrievers, coders, and reviewers working together.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When the final pipeline fails, the observed error does not directly reveal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which agent introduced the original failure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An early mistake may propagate through later agents, while a later agent may fail to detect or correct an existing error.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This project frames multi-agent failure diagnosis as a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probabilistic root-cause attribution problem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 rather than a single-label classification problem.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Key idea: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Instead of saying </a:t>
            </a:r>
            <a:r>
              <a:rPr b="0" i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“Agent 2 is responsible,”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 AgentDiag estimates a probability distribution over possible root causes.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786000" y="518040"/>
            <a:ext cx="6729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chemeClr val="lt1"/>
                </a:solidFill>
                <a:latin typeface="Times New Roman"/>
                <a:ea typeface="Calibri"/>
              </a:rPr>
              <a:t>Introduction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86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7" name="Freeform 4"/>
          <p:cNvSpPr/>
          <p:nvPr/>
        </p:nvSpPr>
        <p:spPr>
          <a:xfrm>
            <a:off x="13865040" y="8984880"/>
            <a:ext cx="4061520" cy="910080"/>
          </a:xfrm>
          <a:custGeom>
            <a:avLst/>
            <a:gdLst>
              <a:gd name="textAreaLeft" fmla="*/ 0 w 4061520"/>
              <a:gd name="textAreaRight" fmla="*/ 4061880 w 4061520"/>
              <a:gd name="textAreaTop" fmla="*/ 0 h 910080"/>
              <a:gd name="textAreaBottom" fmla="*/ 910440 h 910080"/>
            </a:gdLst>
            <a:ahLst/>
            <a:rect l="textAreaLeft" t="textAreaTop" r="textAreaRight" b="textAreaBottom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451080" y="2433240"/>
            <a:ext cx="17490600" cy="77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Multi-agent LLM pipelines contain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dependent stages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, making failures difficult to localize.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Existing LLM-based diagnosis approaches often produce a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single root-cause prediction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 rather than calibrated probabilities.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A diagnosis can be correct while its confidence is misleading—for example, predicting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90% confidence but being correct only 60% of the time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Agent logs or intermediate outputs may sometimes be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missing or incomplete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, making deterministic diagnosis unreliable.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Agent reliability can also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change over time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, causing degradation that may only become visible after the final failure.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Consequence:</a:t>
            </a:r>
            <a:br>
              <a:rPr sz="3600"/>
            </a:br>
            <a:r>
              <a:rPr b="0" lang="en-US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A system needs to identify who most likely caused the failure, how uncertain that attribution is, and whether its confidence is trustworthy.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786000" y="518040"/>
            <a:ext cx="6729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chemeClr val="lt1"/>
                </a:solidFill>
                <a:latin typeface="Times New Roman"/>
                <a:ea typeface="Calibri"/>
              </a:rPr>
              <a:t>Problem Statement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92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3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67320" y="518040"/>
            <a:ext cx="1130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5000" spc="-1" strike="noStrike">
                <a:solidFill>
                  <a:schemeClr val="lt1"/>
                </a:solidFill>
                <a:latin typeface="Times New Roman"/>
                <a:ea typeface="Calibri"/>
              </a:rPr>
              <a:t>Literature Review</a:t>
            </a:r>
            <a:endParaRPr b="0" lang="en-US" sz="5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TextBox LitReview"/>
          <p:cNvSpPr/>
          <p:nvPr/>
        </p:nvSpPr>
        <p:spPr>
          <a:xfrm>
            <a:off x="451080" y="2599920"/>
            <a:ext cx="17490600" cy="52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1" lang="en-US" sz="3600" spc="-1" strike="noStrike" u="sng">
                <a:solidFill>
                  <a:schemeClr val="dk1"/>
                </a:solidFill>
                <a:uFillTx/>
                <a:latin typeface="Times New Roman"/>
                <a:ea typeface="Calibri"/>
              </a:rPr>
              <a:t>Benchmark &amp; SOTA (Conferences)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Who&amp;When (ICML 2025): </a:t>
            </a:r>
            <a:r>
              <a:rPr b="0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introduced the failure-attribution benchmark; original baseline achieved 53.5% agent-level / 14.2% step-level accuracy.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AgenTracer (ICLR 2026): </a:t>
            </a:r>
            <a:r>
              <a:rPr b="0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current state of the art on Who&amp;When — the accuracy bar AgentDiag needs to clear.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1" lang="en-US" sz="3600" spc="-1" strike="noStrike" u="sng">
                <a:solidFill>
                  <a:schemeClr val="dk1"/>
                </a:solidFill>
                <a:uFillTx/>
                <a:latin typeface="Times New Roman"/>
                <a:ea typeface="Calibri"/>
              </a:rPr>
              <a:t>Methodology &amp; Evaluation Base (Journals)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Ensemble BN (JMS, 2024): </a:t>
            </a:r>
            <a:r>
              <a:rPr b="0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peer-reviewed foundation for Bayesian Network parameter learning and inference.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Graph-based Confidence Calibration (TMLR, 2025): </a:t>
            </a:r>
            <a:r>
              <a:rPr b="0" lang="en-US" sz="3000" spc="-1" strike="noStrike">
                <a:solidFill>
                  <a:schemeClr val="dk1"/>
                </a:solidFill>
                <a:latin typeface="Times New Roman"/>
                <a:ea typeface="Calibri"/>
              </a:rPr>
              <a:t>peer-reviewed foundation for the ECE/Brier calibration techniques used in AgentDiag.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97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8" name="Freeform 4"/>
          <p:cNvSpPr/>
          <p:nvPr/>
        </p:nvSpPr>
        <p:spPr>
          <a:xfrm>
            <a:off x="13865040" y="8984880"/>
            <a:ext cx="4061520" cy="910080"/>
          </a:xfrm>
          <a:custGeom>
            <a:avLst/>
            <a:gdLst>
              <a:gd name="textAreaLeft" fmla="*/ 0 w 4061520"/>
              <a:gd name="textAreaRight" fmla="*/ 4061880 w 4061520"/>
              <a:gd name="textAreaTop" fmla="*/ 0 h 910080"/>
              <a:gd name="textAreaBottom" fmla="*/ 910440 h 910080"/>
            </a:gdLst>
            <a:ahLst/>
            <a:rect l="textAreaLeft" t="textAreaTop" r="textAreaRight" b="textAreaBottom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800280" y="3027600"/>
            <a:ext cx="16695360" cy="71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Model dependencies between agent failures using a </a:t>
            </a: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Bayesian Network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Compute root-cause probabilities using </a:t>
            </a: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hand-implemented Variable Elimination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Learn model parameters from </a:t>
            </a: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real multi-agent execution data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 instead of manually assigning probabilities.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Handle </a:t>
            </a: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missing observations/logs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 through probabilistic inference.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Produce a </a:t>
            </a: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calibrated probability distribution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 over candidate root causes.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Track changing agent reliability across multiple turns using an </a:t>
            </a: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HMM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AgentDiag combines: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Bayesian Network → Variable Elimination → Parameter Learning → Calibration → HMM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402720" y="518040"/>
            <a:ext cx="134805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chemeClr val="lt1"/>
                </a:solidFill>
                <a:latin typeface="Times New Roman"/>
                <a:ea typeface="Calibri"/>
              </a:rPr>
              <a:t>Objectives &amp; Proposed Solution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103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4" name="Freeform 4"/>
          <p:cNvSpPr/>
          <p:nvPr/>
        </p:nvSpPr>
        <p:spPr>
          <a:xfrm>
            <a:off x="13865040" y="8984880"/>
            <a:ext cx="4061520" cy="910080"/>
          </a:xfrm>
          <a:custGeom>
            <a:avLst/>
            <a:gdLst>
              <a:gd name="textAreaLeft" fmla="*/ 0 w 4061520"/>
              <a:gd name="textAreaRight" fmla="*/ 4061880 w 4061520"/>
              <a:gd name="textAreaTop" fmla="*/ 0 h 910080"/>
              <a:gd name="textAreaBottom" fmla="*/ 910440 h 910080"/>
            </a:gdLst>
            <a:ahLst/>
            <a:rect l="textAreaLeft" t="textAreaTop" r="textAreaRight" b="textAreaBottom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67320" y="518040"/>
            <a:ext cx="1130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5000" spc="-1" strike="noStrike">
                <a:solidFill>
                  <a:schemeClr val="lt1"/>
                </a:solidFill>
                <a:latin typeface="Times New Roman"/>
                <a:ea typeface="Calibri"/>
              </a:rPr>
              <a:t>Methodology / Algorithms &amp; Techniques</a:t>
            </a:r>
            <a:endParaRPr b="0" lang="en-US" sz="5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924480" y="2569320"/>
            <a:ext cx="14557680" cy="74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514440" indent="-5144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Bayesian Network:</a:t>
            </a:r>
            <a:br>
              <a:rPr sz="3200"/>
            </a:b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Models dependencies among agent failures.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Variable Elimination: 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Computes P(Agenti failed∣Pipeline Failure) via a custom, hand-rolled implementation (no probabilistic graph libraries used).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Parameter Learning: 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CPT values are estimated from actual pipeline runs.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Calibration:</a:t>
            </a:r>
            <a:br>
              <a:rPr sz="3200"/>
            </a:b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Checks predicted probabilities against actual frequencies using ECE, Brier Score, and reliability diagrams.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HMM:</a:t>
            </a:r>
            <a:br>
              <a:rPr sz="3200"/>
            </a:b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Tracks hidden agent reliability states over multiple turns.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109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" name="Freeform 4"/>
          <p:cNvSpPr/>
          <p:nvPr/>
        </p:nvSpPr>
        <p:spPr>
          <a:xfrm>
            <a:off x="13865040" y="8984880"/>
            <a:ext cx="4061520" cy="910080"/>
          </a:xfrm>
          <a:custGeom>
            <a:avLst/>
            <a:gdLst>
              <a:gd name="textAreaLeft" fmla="*/ 0 w 4061520"/>
              <a:gd name="textAreaRight" fmla="*/ 4061880 w 4061520"/>
              <a:gd name="textAreaTop" fmla="*/ 0 h 910080"/>
              <a:gd name="textAreaBottom" fmla="*/ 910440 h 910080"/>
            </a:gdLst>
            <a:ahLst/>
            <a:rect l="textAreaLeft" t="textAreaTop" r="textAreaRight" b="textAreaBottom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67320" y="518040"/>
            <a:ext cx="1130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5000" spc="-1" strike="noStrike">
                <a:solidFill>
                  <a:schemeClr val="lt1"/>
                </a:solidFill>
                <a:latin typeface="Times New Roman"/>
                <a:ea typeface="Calibri"/>
              </a:rPr>
              <a:t>System Architecture</a:t>
            </a:r>
            <a:endParaRPr b="0" lang="en-US" sz="5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0" y="2427840"/>
            <a:ext cx="18213840" cy="763056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4"/>
          <a:stretch/>
        </p:blipFill>
        <p:spPr>
          <a:xfrm>
            <a:off x="14545080" y="9001440"/>
            <a:ext cx="3742920" cy="128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2"/>
          <p:cNvGrpSpPr/>
          <p:nvPr/>
        </p:nvGrpSpPr>
        <p:grpSpPr>
          <a:xfrm>
            <a:off x="0" y="-1080"/>
            <a:ext cx="18287640" cy="2200320"/>
            <a:chOff x="0" y="-1080"/>
            <a:chExt cx="18287640" cy="2200320"/>
          </a:xfrm>
        </p:grpSpPr>
        <p:sp>
          <p:nvSpPr>
            <p:cNvPr id="116" name="Freeform 3"/>
            <p:cNvSpPr/>
            <p:nvPr/>
          </p:nvSpPr>
          <p:spPr>
            <a:xfrm>
              <a:off x="0" y="-1080"/>
              <a:ext cx="18287640" cy="22003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00320"/>
                <a:gd name="textAreaBottom" fmla="*/ 2200680 h 2200320"/>
              </a:gdLst>
              <a:ahLst/>
              <a:rect l="textAreaLeft" t="textAreaTop" r="textAreaRight" b="textAreaBottom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7" name="Freeform 4"/>
          <p:cNvSpPr/>
          <p:nvPr/>
        </p:nvSpPr>
        <p:spPr>
          <a:xfrm>
            <a:off x="13865040" y="8984880"/>
            <a:ext cx="4061520" cy="910080"/>
          </a:xfrm>
          <a:custGeom>
            <a:avLst/>
            <a:gdLst>
              <a:gd name="textAreaLeft" fmla="*/ 0 w 4061520"/>
              <a:gd name="textAreaRight" fmla="*/ 4061880 w 4061520"/>
              <a:gd name="textAreaTop" fmla="*/ 0 h 910080"/>
              <a:gd name="textAreaBottom" fmla="*/ 910440 h 910080"/>
            </a:gdLst>
            <a:ahLst/>
            <a:rect l="textAreaLeft" t="textAreaTop" r="textAreaRight" b="textAreaBottom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Freeform 5"/>
          <p:cNvSpPr/>
          <p:nvPr/>
        </p:nvSpPr>
        <p:spPr>
          <a:xfrm>
            <a:off x="0" y="-3600"/>
            <a:ext cx="1837080" cy="2202840"/>
          </a:xfrm>
          <a:custGeom>
            <a:avLst/>
            <a:gdLst>
              <a:gd name="textAreaLeft" fmla="*/ 0 w 1837080"/>
              <a:gd name="textAreaRight" fmla="*/ 1837440 w 183708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67320" y="518040"/>
            <a:ext cx="1130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5000" spc="-1" strike="noStrike">
                <a:solidFill>
                  <a:schemeClr val="lt1"/>
                </a:solidFill>
                <a:latin typeface="Times New Roman"/>
                <a:ea typeface="Calibri"/>
              </a:rPr>
              <a:t>Expected Outcomes</a:t>
            </a:r>
            <a:endParaRPr b="0" lang="en-US" sz="5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2133720" y="2552760"/>
            <a:ext cx="145080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endParaRPr b="1" lang="en-US" sz="3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894600" y="3271680"/>
            <a:ext cx="16995600" cy="55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Probability distribution over possible root-cause agents instead of a single guess.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Data-driven probabilistic model learned from actual executions.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Ability to reason with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</a:rPr>
              <a:t>missing agent observations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Quantitative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</a:rPr>
              <a:t>calibration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 of diagnosis confidence.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Early identification of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</a:rPr>
              <a:t>agent reliability degradation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 using HMM.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Evaluation against the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</a:rPr>
              <a:t>Who&amp;When benchmark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, targeting competitive accuracy with current SOTA (AgenTracer) while providing superior calibration (ECE/Brier) and robust missing-evidence handling.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600" spc="-1" strike="noStrike">
                <a:solidFill>
                  <a:schemeClr val="dk1"/>
                </a:solidFill>
                <a:latin typeface="Times New Roman"/>
              </a:rPr>
              <a:t>Future work:</a:t>
            </a:r>
            <a:r>
              <a:rPr b="0" lang="en-US" sz="3600" spc="-1" strike="noStrike">
                <a:solidFill>
                  <a:schemeClr val="dk1"/>
                </a:solidFill>
                <a:latin typeface="Times New Roman"/>
              </a:rPr>
              <a:t> full implementation, quantitative evaluation and benchmark analysis.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</TotalTime>
  <Application>LibreOffice/24.2.7.2$Linux_X86_64 LibreOffice_project/420$Build-2</Application>
  <AppVersion>15.0000</AppVersion>
  <Words>10</Words>
  <Paragraphs>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SHIVA GUMMALLA</dc:creator>
  <dc:description/>
  <dc:identifier>DAGZbARvEoo</dc:identifier>
  <dc:language>en-US</dc:language>
  <cp:lastModifiedBy/>
  <dcterms:modified xsi:type="dcterms:W3CDTF">2026-08-30T22:14:45Z</dcterms:modified>
  <cp:revision>586</cp:revision>
  <dc:subject/>
  <dc:title>AIR 0th Rev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Custom</vt:lpwstr>
  </property>
  <property fmtid="{D5CDD505-2E9C-101B-9397-08002B2CF9AE}" pid="4" name="Slides">
    <vt:i4>8</vt:i4>
  </property>
</Properties>
</file>